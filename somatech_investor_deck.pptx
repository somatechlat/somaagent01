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9144000" cy="5143500" type="screen16x9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43"/>
    <p:restoredTop autoAdjust="0" sz="94694"/>
  </p:normalViewPr>
  <p:slideViewPr>
    <p:cSldViewPr snapToGrid="0" snapToObjects="1">
      <p:cViewPr varScale="1">
        <p:scale>
          <a:sx d="100" n="161"/>
          <a:sy d="100" n="161"/>
        </p:scale>
        <p:origin x="560" y="200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6" Type="http://schemas.openxmlformats.org/officeDocument/2006/relationships/slide" Target="slides/slide5.xml" /><Relationship Id="rId7" Type="http://schemas.openxmlformats.org/officeDocument/2006/relationships/slide" Target="slides/slide6.xml" /><Relationship Id="rId8" Type="http://schemas.openxmlformats.org/officeDocument/2006/relationships/slide" Target="slides/slide7.xml" /><Relationship Id="rId9" Type="http://schemas.openxmlformats.org/officeDocument/2006/relationships/slide" Target="slides/slide8.xml" /><Relationship Id="rId10" Type="http://schemas.openxmlformats.org/officeDocument/2006/relationships/slide" Target="slides/slide9.xml" /><Relationship Id="rId12" Type="http://schemas.openxmlformats.org/officeDocument/2006/relationships/viewProps" Target="viewProps.xml" /><Relationship Id="rId11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14" Type="http://schemas.openxmlformats.org/officeDocument/2006/relationships/tableStyles" Target="tableStyles.xml" /><Relationship Id="rId13" Type="http://schemas.openxmlformats.org/officeDocument/2006/relationships/theme" Target="theme/theme1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42900" eaLnBrk="1" hangingPunct="1" latinLnBrk="0" rtl="0">
        <a:spcBef>
          <a:spcPct val="0"/>
        </a:spcBef>
        <a:buNone/>
        <a:defRPr kern="1200" sz="33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algn="l" defTabSz="342900" eaLnBrk="1" hangingPunct="1" indent="-342900" latinLnBrk="0" marL="342900" rtl="0">
        <a:spcBef>
          <a:spcPct val="20000"/>
        </a:spcBef>
        <a:buFont typeface="Arial"/>
        <a:buChar char="•"/>
        <a:defRPr kern="1200" sz="240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indent="-342900" latinLnBrk="0" marL="685800" rtl="0">
        <a:spcBef>
          <a:spcPct val="20000"/>
        </a:spcBef>
        <a:buFont typeface="Arial"/>
        <a:buChar char="–"/>
        <a:defRPr kern="1200" sz="210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indent="-342900" latinLnBrk="0" marL="1028700" rtl="0">
        <a:spcBef>
          <a:spcPct val="20000"/>
        </a:spcBef>
        <a:buFont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indent="-342900" latinLnBrk="0" marL="1371600" rtl="0">
        <a:spcBef>
          <a:spcPct val="20000"/>
        </a:spcBef>
        <a:buFont typeface="Arial"/>
        <a:buChar char="–"/>
        <a:defRPr kern="1200" sz="150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indent="-342900" latinLnBrk="0" marL="1714500" rtl="0">
        <a:spcBef>
          <a:spcPct val="20000"/>
        </a:spcBef>
        <a:buFont typeface="Arial"/>
        <a:buChar char="»"/>
        <a:defRPr kern="1200" sz="150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indent="-342900" latinLnBrk="0" marL="20574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indent="-342900" latinLnBrk="0" marL="24003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indent="-342900" latinLnBrk="0" marL="27432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indent="-342900" latinLnBrk="0" marL="30861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342900" eaLnBrk="1" hangingPunct="1" latinLnBrk="0" marL="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latinLnBrk="0" marL="3429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latinLnBrk="0" marL="6858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latinLnBrk="0" marL="10287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latinLnBrk="0" marL="13716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latinLnBrk="0" marL="17145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latinLnBrk="0" marL="20574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latinLnBrk="0" marL="24003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latinLnBrk="0" marL="27432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The Fortress: Enterprise AI Infrastructure &amp; Sovereign Data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Investor &amp; Strategy Deck - 2026</a:t>
            </a:r>
            <a:r>
              <a:rPr/>
              <a:t> </a:t>
            </a:r>
            <a:r>
              <a:rPr b="1"/>
              <a:t>SomaTech LAT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1. The Executive Team</a:t>
            </a:r>
          </a:p>
          <a:p>
            <a:pPr lvl="0" indent="0" marL="0">
              <a:buNone/>
            </a:pPr>
            <a:r>
              <a:rPr b="1"/>
              <a:t>A Coalition of Technology, Law, and Industry</a:t>
            </a:r>
          </a:p>
          <a:p>
            <a:pPr lvl="0"/>
            <a:r>
              <a:rPr b="1"/>
              <a:t>Juan Carlos Solines</a:t>
            </a:r>
            <a:r>
              <a:rPr/>
              <a:t> (Incoming CEO / Legal Architect)</a:t>
            </a:r>
          </a:p>
          <a:p>
            <a:pPr lvl="1"/>
            <a:r>
              <a:rPr/>
              <a:t>Former President of CONATEL.</a:t>
            </a:r>
          </a:p>
          <a:p>
            <a:pPr lvl="1"/>
            <a:r>
              <a:rPr/>
              <a:t>Preeminent telecommunications and technology legal expert in LATAM.</a:t>
            </a:r>
          </a:p>
          <a:p>
            <a:pPr lvl="1"/>
            <a:r>
              <a:rPr i="1"/>
              <a:t>The Shield:</a:t>
            </a:r>
            <a:r>
              <a:rPr/>
              <a:t> Garanting regulatory dominance, data sovereignty, and US compliance.</a:t>
            </a:r>
          </a:p>
          <a:p>
            <a:pPr lvl="0"/>
            <a:r>
              <a:rPr b="1"/>
              <a:t>Andres Oquendo</a:t>
            </a:r>
            <a:r>
              <a:rPr/>
              <a:t> (Ingelsi Cia Ltda)</a:t>
            </a:r>
          </a:p>
          <a:p>
            <a:pPr lvl="1"/>
            <a:r>
              <a:rPr/>
              <a:t>36+ years of industrial hardware &amp; systems heritage.</a:t>
            </a:r>
          </a:p>
          <a:p>
            <a:pPr lvl="1"/>
            <a:r>
              <a:rPr i="1"/>
              <a:t>The Anchor:</a:t>
            </a:r>
            <a:r>
              <a:rPr/>
              <a:t> Real-world deployment, logistics, and stability.</a:t>
            </a:r>
          </a:p>
          <a:p>
            <a:pPr lvl="0"/>
            <a:r>
              <a:rPr b="1"/>
              <a:t>Victor Encalada Eguez</a:t>
            </a:r>
            <a:r>
              <a:rPr/>
              <a:t> (Media Naranja Publicidad)</a:t>
            </a:r>
          </a:p>
          <a:p>
            <a:pPr lvl="1"/>
            <a:r>
              <a:rPr/>
              <a:t>Brand narrative, UX/UI, and product marketing.</a:t>
            </a:r>
          </a:p>
          <a:p>
            <a:pPr lvl="1"/>
            <a:r>
              <a:rPr i="1"/>
              <a:t>The Voice:</a:t>
            </a:r>
            <a:r>
              <a:rPr/>
              <a:t> Translating deep tech into enterprise adoption.</a:t>
            </a:r>
          </a:p>
          <a:p>
            <a:pPr lvl="0"/>
            <a:r>
              <a:rPr b="1"/>
              <a:t>SomaTech LAT</a:t>
            </a:r>
            <a:r>
              <a:rPr/>
              <a:t> (Engineering Core)</a:t>
            </a:r>
          </a:p>
          <a:p>
            <a:pPr lvl="1"/>
            <a:r>
              <a:rPr/>
              <a:t>The architects behind the 13-repository, 5-layer AI infrastructure.</a:t>
            </a:r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2. The Current Industry Delusion</a:t>
            </a:r>
          </a:p>
          <a:p>
            <a:pPr lvl="0" indent="0" marL="0">
              <a:buNone/>
            </a:pPr>
            <a:r>
              <a:rPr b="1"/>
              <a:t>“Tents masquerading as Fortresses”</a:t>
            </a:r>
          </a:p>
          <a:p>
            <a:pPr lvl="0"/>
            <a:r>
              <a:rPr/>
              <a:t>The market is obsessed with “talking to AI.”</a:t>
            </a:r>
          </a:p>
          <a:p>
            <a:pPr lvl="0"/>
            <a:r>
              <a:rPr/>
              <a:t>Frameworks like LangChain, AutoGen, and CrewAI are orchestration layers—they are built for prototyping.</a:t>
            </a:r>
          </a:p>
          <a:p>
            <a:pPr lvl="0"/>
            <a:r>
              <a:rPr b="1"/>
              <a:t>The Problem:</a:t>
            </a:r>
            <a:r>
              <a:rPr/>
              <a:t> They fail at the three hardest problems in computer science:</a:t>
            </a:r>
          </a:p>
          <a:p>
            <a:pPr lvl="1" indent="-342900" marL="685800">
              <a:buAutoNum type="arabicPeriod"/>
            </a:pPr>
            <a:r>
              <a:rPr/>
              <a:t>Distributed state consensus.</a:t>
            </a:r>
          </a:p>
          <a:p>
            <a:pPr lvl="1" indent="-342900" marL="685800">
              <a:buAutoNum type="arabicPeriod"/>
            </a:pPr>
            <a:r>
              <a:rPr/>
              <a:t>Cryptographic data sovereignty.</a:t>
            </a:r>
          </a:p>
          <a:p>
            <a:pPr lvl="1" indent="-342900" marL="685800">
              <a:buAutoNum type="arabicPeriod"/>
            </a:pPr>
            <a:r>
              <a:rPr/>
              <a:t>Multi-tenant secure execution environments (RBAC/Zanzibar).</a:t>
            </a:r>
          </a:p>
          <a:p>
            <a:pPr lvl="0"/>
            <a:r>
              <a:rPr i="1"/>
              <a:t>You cannot run a bank, a hospital, or a government on a Python script wrapper.</a:t>
            </a:r>
          </a:p>
        </p:txBody>
      </p:sp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3. Our Solution: The Fortress</a:t>
            </a:r>
          </a:p>
          <a:p>
            <a:pPr lvl="0" indent="0" marL="0">
              <a:buNone/>
            </a:pPr>
            <a:r>
              <a:rPr b="1"/>
              <a:t>A 5-Layer, LLM-Agnostic Operating System</a:t>
            </a:r>
          </a:p>
          <a:p>
            <a:pPr lvl="0" indent="0" marL="0">
              <a:buNone/>
            </a:pPr>
            <a:r>
              <a:rPr/>
              <a:t>We did not build an agent. We built the infrastructure that agents </a:t>
            </a:r>
            <a:r>
              <a:rPr i="1"/>
              <a:t>live inside</a:t>
            </a:r>
            <a:r>
              <a:rPr/>
              <a:t>.</a:t>
            </a:r>
          </a:p>
          <a:p>
            <a:pPr lvl="0"/>
            <a:r>
              <a:rPr b="1"/>
              <a:t>Layer 4 (SomaAgent01):</a:t>
            </a:r>
            <a:r>
              <a:rPr/>
              <a:t> The Edge execution layer. Strict multi-tenancy separation.</a:t>
            </a:r>
          </a:p>
          <a:p>
            <a:pPr lvl="0"/>
            <a:r>
              <a:rPr b="1"/>
              <a:t>Layer 3 (SomaBrain):</a:t>
            </a:r>
            <a:r>
              <a:rPr/>
              <a:t> The Cognitive Core. Hyperdimensional HRR vectors, not just vector DBs. Real working memory.</a:t>
            </a:r>
          </a:p>
          <a:p>
            <a:pPr lvl="0"/>
            <a:r>
              <a:rPr b="1"/>
              <a:t>Layer 2 (SomaFractal):</a:t>
            </a:r>
            <a:r>
              <a:rPr/>
              <a:t> The Memory Manager.</a:t>
            </a:r>
          </a:p>
          <a:p>
            <a:pPr lvl="0"/>
            <a:r>
              <a:rPr b="1"/>
              <a:t>The Key:</a:t>
            </a:r>
            <a:r>
              <a:rPr/>
              <a:t> Strict port isolation and cryptographic handshakes. The LLM never sees data it isn’t authorized to see.</a:t>
            </a:r>
          </a:p>
        </p:txBody>
      </p:sp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4. YACHAQ: The Crown Jewel</a:t>
            </a:r>
          </a:p>
          <a:p>
            <a:pPr lvl="0" indent="0" marL="0">
              <a:buNone/>
            </a:pPr>
            <a:r>
              <a:rPr b="1"/>
              <a:t>Consent-First Personal Data Sovereignty Platform</a:t>
            </a:r>
          </a:p>
          <a:p>
            <a:pPr lvl="0"/>
            <a:r>
              <a:rPr/>
              <a:t>Built on Enterprise </a:t>
            </a:r>
            <a:r>
              <a:rPr b="1"/>
              <a:t>Java 21 / Spring Boot 3.4</a:t>
            </a:r>
            <a:r>
              <a:rPr/>
              <a:t> microservices.</a:t>
            </a:r>
          </a:p>
          <a:p>
            <a:pPr lvl="0"/>
            <a:r>
              <a:rPr b="1"/>
              <a:t>Not a conceptual prototype:</a:t>
            </a:r>
            <a:r>
              <a:rPr/>
              <a:t> It is a 16-module distributed system.</a:t>
            </a:r>
          </a:p>
          <a:p>
            <a:pPr lvl="0"/>
            <a:r>
              <a:rPr b="1"/>
              <a:t>Double-Entry Privacy:</a:t>
            </a:r>
            <a:r>
              <a:rPr/>
              <a:t> Privacy Risk Budgets (PRB) are treated as a fungible currency. If the risk budget is exhausted, the system hard-blocks the transaction (</a:t>
            </a:r>
            <a:r>
              <a:rPr>
                <a:latin typeface="Courier"/>
              </a:rPr>
              <a:t>PRBExhaustedException</a:t>
            </a:r>
            <a:r>
              <a:rPr/>
              <a:t>).</a:t>
            </a:r>
          </a:p>
          <a:p>
            <a:pPr lvl="0"/>
            <a:r>
              <a:rPr b="1"/>
              <a:t>Escrow Ledgers:</a:t>
            </a:r>
            <a:r>
              <a:rPr/>
              <a:t> Real-time financial backing with idempotency keys to prevent double-spending.</a:t>
            </a:r>
          </a:p>
          <a:p>
            <a:pPr lvl="0"/>
            <a:r>
              <a:rPr b="1"/>
              <a:t>Cryptographic TTLs:</a:t>
            </a:r>
            <a:r>
              <a:rPr/>
              <a:t> TimeCapsules that guarantee data destruction down to the millisecond.</a:t>
            </a:r>
          </a:p>
        </p:txBody>
      </p:sp>
    </p:spTree>
  </p:cSld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5. Mathematical Certainty</a:t>
            </a:r>
          </a:p>
          <a:p>
            <a:pPr lvl="0" indent="0" marL="0">
              <a:buNone/>
            </a:pPr>
            <a:r>
              <a:rPr b="1"/>
              <a:t>Property-Based Testing (</a:t>
            </a:r>
            <a:r>
              <a:rPr b="1">
                <a:latin typeface="Courier"/>
              </a:rPr>
              <a:t>jqwik</a:t>
            </a:r>
            <a:r>
              <a:rPr b="1"/>
              <a:t>)</a:t>
            </a:r>
          </a:p>
          <a:p>
            <a:pPr lvl="0"/>
            <a:r>
              <a:rPr/>
              <a:t>We don’t write “example tests” (assert 2+2=4).</a:t>
            </a:r>
          </a:p>
          <a:p>
            <a:pPr lvl="0"/>
            <a:r>
              <a:rPr/>
              <a:t>We write formal, mathematical proofs into the codebase.</a:t>
            </a:r>
          </a:p>
          <a:p>
            <a:pPr lvl="0"/>
            <a:r>
              <a:rPr b="1"/>
              <a:t>The Proof:</a:t>
            </a:r>
            <a:r>
              <a:rPr/>
              <a:t> We throw thousands of random inputs at our </a:t>
            </a:r>
            <a:r>
              <a:rPr>
                <a:latin typeface="Courier"/>
              </a:rPr>
              <a:t>ConsentContract</a:t>
            </a:r>
            <a:r>
              <a:rPr/>
              <a:t> to formally prove that </a:t>
            </a:r>
            <a:r>
              <a:rPr i="1"/>
              <a:t>no matter the prior state</a:t>
            </a:r>
            <a:r>
              <a:rPr/>
              <a:t>, a revocation mathematically guarantees all data access is blocked within </a:t>
            </a:r>
            <a:r>
              <a:rPr b="1"/>
              <a:t>exactly 60 seconds.</a:t>
            </a:r>
          </a:p>
          <a:p>
            <a:pPr lvl="0"/>
            <a:r>
              <a:rPr i="1"/>
              <a:t>This is the standard used in aviation software and financial clearinghouses. It is unheard of in AI.</a:t>
            </a:r>
          </a:p>
        </p:txBody>
      </p:sp>
    </p:spTree>
  </p:cSld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6. The “Trojan Horse” Strategy</a:t>
            </a:r>
          </a:p>
          <a:p>
            <a:pPr lvl="0" indent="0" marL="0">
              <a:buNone/>
            </a:pPr>
            <a:r>
              <a:rPr b="1"/>
              <a:t>Dominating Locally to Conquer Globally</a:t>
            </a:r>
          </a:p>
          <a:p>
            <a:pPr lvl="0"/>
            <a:r>
              <a:rPr b="1"/>
              <a:t>Phase 1: Local Domination (Ecuador)</a:t>
            </a:r>
          </a:p>
          <a:p>
            <a:pPr lvl="1"/>
            <a:r>
              <a:rPr/>
              <a:t>Winning government and enterprise contracts locally.</a:t>
            </a:r>
          </a:p>
          <a:p>
            <a:pPr lvl="1"/>
            <a:r>
              <a:rPr/>
              <a:t>Deploying real systems handling real taxation (SRI), payroll, and sovereign data (Odoo Integration).</a:t>
            </a:r>
          </a:p>
          <a:p>
            <a:pPr lvl="1"/>
            <a:r>
              <a:rPr i="1"/>
              <a:t>Result:</a:t>
            </a:r>
            <a:r>
              <a:rPr/>
              <a:t> Financing the startup and battle-testing the code.</a:t>
            </a:r>
          </a:p>
          <a:p>
            <a:pPr lvl="0"/>
            <a:r>
              <a:rPr b="1"/>
              <a:t>Phase 2: The US Market Entry</a:t>
            </a:r>
          </a:p>
          <a:p>
            <a:pPr lvl="1"/>
            <a:r>
              <a:rPr/>
              <a:t>The US market is desperate for exactly what we built: AI that respects PII, manages risk budgets, and guarantees deterministic execution trails.</a:t>
            </a:r>
          </a:p>
          <a:p>
            <a:pPr lvl="1"/>
            <a:r>
              <a:rPr/>
              <a:t>We don’t arrive with a pitch deck; we arrive with a hardened, revenue-generating, ISO-compliant system.</a:t>
            </a:r>
          </a:p>
        </p:txBody>
      </p:sp>
    </p:spTree>
  </p:cSld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7. The Velocity of Execution</a:t>
            </a:r>
          </a:p>
          <a:p>
            <a:pPr lvl="0" indent="0" marL="0">
              <a:buNone/>
            </a:pPr>
            <a:r>
              <a:rPr b="1"/>
              <a:t>921 Structural Commits in 120 Days</a:t>
            </a:r>
          </a:p>
          <a:p>
            <a:pPr lvl="0"/>
            <a:r>
              <a:rPr/>
              <a:t>This architecture wasn’t built by a massive team bleeding venture capital.</a:t>
            </a:r>
          </a:p>
          <a:p>
            <a:pPr lvl="0"/>
            <a:r>
              <a:rPr/>
              <a:t>It was built by an extremely focused engineering core leveraging AI strictly for velocity, while maintaining the entire 13-repository architectural blueprint in mind.</a:t>
            </a:r>
          </a:p>
          <a:p>
            <a:pPr lvl="0"/>
            <a:r>
              <a:rPr b="1"/>
              <a:t>The Result:</a:t>
            </a:r>
            <a:r>
              <a:rPr/>
              <a:t> A zero-trust, enterprise-grade AI infrastructure built in a fraction of the time and cost of Silicon Valley competitors.</a:t>
            </a:r>
          </a:p>
        </p:txBody>
      </p:sp>
    </p:spTree>
  </p:cSld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8. The Ask / The Future</a:t>
            </a:r>
          </a:p>
          <a:p>
            <a:pPr lvl="0"/>
            <a:r>
              <a:rPr/>
              <a:t>The fortress is built.</a:t>
            </a:r>
          </a:p>
          <a:p>
            <a:pPr lvl="0"/>
            <a:r>
              <a:rPr/>
              <a:t>The legal and branding team is assembled.</a:t>
            </a:r>
          </a:p>
          <a:p>
            <a:pPr lvl="0"/>
            <a:r>
              <a:rPr/>
              <a:t>The immediate goal: Final wiring of the L3/L4 connections.</a:t>
            </a:r>
          </a:p>
          <a:p>
            <a:pPr lvl="0"/>
            <a:r>
              <a:rPr b="1"/>
              <a:t>The Ultimatum:</a:t>
            </a:r>
            <a:r>
              <a:rPr/>
              <a:t> We are not competing to be the best AI chatbot. We are competing to be the foundational security and sovereign infrastructure for the next decade of enterprise compute.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Macintosh PowerPoint</Application>
  <PresentationFormat>On-screen Show (16:9)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keywords/>
  <dcterms:created xsi:type="dcterms:W3CDTF">2026-03-10T03:36:20Z</dcterms:created>
  <dcterms:modified xsi:type="dcterms:W3CDTF">2026-03-10T03:36:20Z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/>
</file>